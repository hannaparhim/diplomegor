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10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325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Добрый день. Я представляю дипломный проект: платформу для корпоративного обучения. Это web-приложение формата LMS, которое помогает компании централизованно управлять курсами, сотрудниками, прогрессом обучения, коммуникациями, отчетами и сертификатами.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Проблема проекта в том, что обучение сотрудников обычно распределено между файлами, переписками и ручными таблицами. Из-за этого сложно контролировать прохождение курсов, подтверждать результат и быстро готовить отчеты. Поэтому появляется потребность в единой платформе.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Цель работы состоит не только в создании каталога учебных материалов. Система должна закрывать полный цикл: от регистрации компании и настройки ролей до назначения курсов, прохождения обучения, коммуникаций, выдачи сертификата и формирования управленческой отчетности.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Важная особенность решения — многоарендная модель. Одна платформа может обслуживать несколько компаний, но данные каждой компании логически изолированы через companyId. Доступ внутри компании регулируется ролями: администратор, HR, менеджер и сотрудник.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реализованной версии есть регистрация компании, управление пользователями, ролями и отделами, создание курсов с модулями и уроками, назначение обучения, учет прогресса, чат, отчеты, аудит и генерация сертификатов. То есть система закрывает не отдельную функцию, а рабочий процесс целиком.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Технически система построена по клиент-серверной архитектуре. На клиенте используется React-приложение, серверная часть реализована на Node.js и Express. Логика вынесена в сервисы, а работа с базой организована через Prisma поверх SQLite. Для файлов используется локальный каталог uploads, для чата — Socket.IO.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Модель данных строится вокруг сущности Company. С ней связаны пользователи, роли, отделы, курсы, уроки, тесты, назначения, прогресс, сообщения, сертификаты, аудит и фоновые задачи. Такая структура позволяет масштабировать систему на несколько компаний и сохранять логическую изоляцию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Интерфейс сделан как единое рабочее пространство. На дашборде пользователь видит активные курсы, сообщения, сертификаты и важные показатели. Для сотрудника это личный кабинет обучения, для руководителя — инструмент контроля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Административная часть позволяет управлять сотрудниками, ролями, отделами и курсами. Это важно, потому что LMS должна быть не только экраном для прохождения уроков, но и инструментом сопровождения организационной структуры.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Основной пользовательский цикл выглядит так: сотруднику назначают курс, он проходит уроки и фиксирует прогресс. Если возникают вопросы, он может обратиться в чат. После успешного завершения формируется сертификат с проверочным кодом и возможностью выгрузки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Итогом работы стала рабочая версия платформы корпоративного обучения. Она решает задачу централизации учебного процесса и показывает основу для дальнейшего развития: переход на PostgreSQL, внешнее файловое хранилище, расширенные уведомления, аналитику и интеграции.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36576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050" b="1">
                <a:solidFill>
                  <a:srgbClr val="0F7A65"/>
                </a:solidFill>
                <a:latin typeface="Segoe UI"/>
              </a:defRPr>
            </a:pPr>
            <a:r>
              <a:t>ДИПЛОМНЫЙ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78408"/>
            <a:ext cx="4754880" cy="18745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92000"/>
              </a:lnSpc>
              <a:defRPr sz="3700" b="1">
                <a:solidFill>
                  <a:srgbClr val="10211B"/>
                </a:solidFill>
                <a:latin typeface="Segoe UI"/>
              </a:defRPr>
            </a:pPr>
            <a:r>
              <a:t>Платформа для</a:t>
            </a:r>
            <a:br/>
            <a:r>
              <a:t>корпоративного</a:t>
            </a:r>
            <a:br/>
            <a:r>
              <a:t>обучения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17520"/>
            <a:ext cx="461772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600" b="0">
                <a:solidFill>
                  <a:srgbClr val="5D6F68"/>
                </a:solidFill>
                <a:latin typeface="Segoe UI"/>
              </a:defRPr>
            </a:pPr>
            <a:r>
              <a:t>Многоарендная LMS для управления курсами, сотрудниками, прогрессом, коммуникациями, отчетами и сертификатами.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096512"/>
            <a:ext cx="10972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4165092"/>
            <a:ext cx="896112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850" b="1">
                <a:solidFill>
                  <a:srgbClr val="0F7A65"/>
                </a:solidFill>
                <a:latin typeface="Segoe UI"/>
              </a:defRPr>
            </a:pPr>
            <a:r>
              <a:t>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56232" y="4096512"/>
            <a:ext cx="13716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56816" y="4165092"/>
            <a:ext cx="1170432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850" b="1">
                <a:solidFill>
                  <a:srgbClr val="0F7A65"/>
                </a:solidFill>
                <a:latin typeface="Segoe UI"/>
              </a:defRPr>
            </a:pPr>
            <a:r>
              <a:t>Node.js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6" y="4096512"/>
            <a:ext cx="13716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4165092"/>
            <a:ext cx="1170432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850" b="1">
                <a:solidFill>
                  <a:srgbClr val="0F7A65"/>
                </a:solidFill>
                <a:latin typeface="Segoe UI"/>
              </a:defRPr>
            </a:pPr>
            <a:r>
              <a:t>Express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4096512"/>
            <a:ext cx="1234439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01184" y="4165092"/>
            <a:ext cx="1033271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850" b="1">
                <a:solidFill>
                  <a:srgbClr val="0F7A65"/>
                </a:solidFill>
                <a:latin typeface="Segoe UI"/>
              </a:defRPr>
            </a:pPr>
            <a:r>
              <a:rPr dirty="0"/>
              <a:t>Prisma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3" y="4096512"/>
            <a:ext cx="1234439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36207" y="4165092"/>
            <a:ext cx="1033271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850" b="1">
                <a:solidFill>
                  <a:srgbClr val="0F7A65"/>
                </a:solidFill>
                <a:latin typeface="Segoe UI"/>
              </a:defRPr>
            </a:pPr>
            <a:r>
              <a:t>SQLite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0646" y="4096512"/>
            <a:ext cx="9144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71230" y="4165092"/>
            <a:ext cx="713232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850" b="1">
                <a:solidFill>
                  <a:srgbClr val="0F7A65"/>
                </a:solidFill>
                <a:latin typeface="Segoe UI"/>
              </a:defRPr>
            </a:pPr>
            <a:r>
              <a:t>JWT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0" y="4096512"/>
            <a:ext cx="1645919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86214" y="4165092"/>
            <a:ext cx="1444751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850" b="1">
                <a:solidFill>
                  <a:srgbClr val="0F7A65"/>
                </a:solidFill>
                <a:latin typeface="Segoe UI"/>
              </a:defRPr>
            </a:pPr>
            <a:r>
              <a:t>Socket.IO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34454" y="685800"/>
            <a:ext cx="5550409" cy="47074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841248"/>
            <a:ext cx="5431536" cy="30540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89320" y="4160520"/>
            <a:ext cx="5120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900" b="1">
                <a:solidFill>
                  <a:srgbClr val="10211B"/>
                </a:solidFill>
                <a:latin typeface="Segoe UI"/>
              </a:defRPr>
            </a:pPr>
            <a:r>
              <a:t>Рабочее пространство 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526280"/>
            <a:ext cx="5074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250" b="0">
                <a:solidFill>
                  <a:srgbClr val="5D6F68"/>
                </a:solidFill>
                <a:latin typeface="Segoe UI"/>
              </a:defRPr>
            </a:pPr>
            <a:r>
              <a:t>Единый экран для обучения, чата, статуса курсов, сертификатов и управленческой сводки.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Платформа корпоративного обучения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2743" y="6510528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050" b="1">
                <a:solidFill>
                  <a:srgbClr val="0F7A65"/>
                </a:solidFill>
                <a:latin typeface="Segoe UI"/>
              </a:defRPr>
            </a:pPr>
            <a:r>
              <a:t>АКТУАЛЬНОСТЬ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832104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3100" b="1">
                <a:solidFill>
                  <a:srgbClr val="10211B"/>
                </a:solidFill>
                <a:latin typeface="Segoe UI"/>
              </a:defRPr>
            </a:pPr>
            <a:r>
              <a:t>Исходная 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8503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5D6F68"/>
                </a:solidFill>
                <a:latin typeface="Segoe UI"/>
              </a:defRPr>
            </a:pPr>
            <a:r>
              <a:t>Обучение в небольшой IT-компании часто остается ручным процессом, хотя напрямую влияет на адаптацию и качество работы.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12848"/>
            <a:ext cx="276148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2212848"/>
            <a:ext cx="73152" cy="1234440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414016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0F7A65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386584"/>
            <a:ext cx="189280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Материалы разрознены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816352"/>
            <a:ext cx="2304288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Учебные файлы, ссылки и регламенты хранятся в разных каналах.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21608" y="2212848"/>
            <a:ext cx="276148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21608" y="2212848"/>
            <a:ext cx="73152" cy="1234440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22776" y="2414016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D9893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86584"/>
            <a:ext cx="189280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Контроль вручную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2816352"/>
            <a:ext cx="2304288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Руководителям сложно быстро понять, кто прошел обязательные курсы.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86200"/>
            <a:ext cx="276148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3886200"/>
            <a:ext cx="73152" cy="1234440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4087368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0F7A65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059936"/>
            <a:ext cx="189280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Нет единой коммуникации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489704"/>
            <a:ext cx="2304288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Вопросы по обучению теряются в мессенджерах и почте.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21608" y="3886200"/>
            <a:ext cx="276148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721608" y="3886200"/>
            <a:ext cx="73152" cy="1234440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22776" y="4087368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D9893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059936"/>
            <a:ext cx="189280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Слабая отчетность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4489704"/>
            <a:ext cx="2304288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Сертификаты и управленческие отчеты формируются с лишними трудозатратами.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5160" y="2148840"/>
            <a:ext cx="448056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69480" y="2423160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200" b="1">
                <a:solidFill>
                  <a:srgbClr val="D98930"/>
                </a:solidFill>
                <a:latin typeface="Segoe UI"/>
              </a:defRPr>
            </a:pPr>
            <a:r>
              <a:t>AS-IS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2880360"/>
            <a:ext cx="1508760" cy="612648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06640" y="3035808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940" b="1">
                <a:solidFill>
                  <a:srgbClr val="10211B"/>
                </a:solidFill>
                <a:latin typeface="Segoe UI"/>
              </a:defRPr>
            </a:pPr>
            <a:r>
              <a:t>Учебные материалы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2880360"/>
            <a:ext cx="1508760" cy="612648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81160" y="3035808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940" b="1">
                <a:solidFill>
                  <a:srgbClr val="10211B"/>
                </a:solidFill>
                <a:latin typeface="Segoe UI"/>
              </a:defRPr>
            </a:pPr>
            <a:r>
              <a:t>Почта и мессенджеры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4069080"/>
            <a:ext cx="1508760" cy="612648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06640" y="4224528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940" b="1">
                <a:solidFill>
                  <a:srgbClr val="10211B"/>
                </a:solidFill>
                <a:latin typeface="Segoe UI"/>
              </a:defRPr>
            </a:pPr>
            <a:r>
              <a:t>Ручные таблицы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4069080"/>
            <a:ext cx="1508760" cy="612648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81160" y="4224528"/>
            <a:ext cx="1325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940" b="1">
                <a:solidFill>
                  <a:srgbClr val="10211B"/>
                </a:solidFill>
                <a:latin typeface="Segoe UI"/>
              </a:defRPr>
            </a:pPr>
            <a:r>
              <a:t>Неочевидный прогресс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23960" y="3191256"/>
            <a:ext cx="365760" cy="0"/>
          </a:xfrm>
          <a:prstGeom prst="line">
            <a:avLst/>
          </a:prstGeom>
          <a:ln w="17780">
            <a:solidFill>
              <a:srgbClr val="D9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065008" y="3493008"/>
            <a:ext cx="0" cy="576072"/>
          </a:xfrm>
          <a:prstGeom prst="line">
            <a:avLst/>
          </a:prstGeom>
          <a:ln w="17780">
            <a:solidFill>
              <a:srgbClr val="D9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23960" y="4379976"/>
            <a:ext cx="365760" cy="0"/>
          </a:xfrm>
          <a:prstGeom prst="line">
            <a:avLst/>
          </a:prstGeom>
          <a:ln w="17780">
            <a:solidFill>
              <a:srgbClr val="D9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269480" y="4892040"/>
            <a:ext cx="370332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Итог: процесс зависит от людей и каналов связи, а не от единого информационного контура.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Платформа корпоративного обучения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2743" y="6510528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050" b="1">
                <a:solidFill>
                  <a:srgbClr val="0F7A65"/>
                </a:solidFill>
                <a:latin typeface="Segoe UI"/>
              </a:defRPr>
            </a:pPr>
            <a:r>
              <a:t>ЦЕЛЬ И 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832104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3100" b="1">
                <a:solidFill>
                  <a:srgbClr val="10211B"/>
                </a:solidFill>
                <a:latin typeface="Segoe UI"/>
              </a:defRPr>
            </a:pPr>
            <a:r>
              <a:t>Что нужно было разработать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8503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5D6F68"/>
                </a:solidFill>
                <a:latin typeface="Segoe UI"/>
              </a:defRPr>
            </a:pPr>
            <a:r>
              <a:t>Цель проекта — создать локально разворачиваемую LMS-платформу для автоматизации корпоративного обучения.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30552"/>
            <a:ext cx="3886200" cy="3364992"/>
          </a:xfrm>
          <a:prstGeom prst="roundRect">
            <a:avLst/>
          </a:prstGeom>
          <a:solidFill>
            <a:srgbClr val="0E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8229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200" b="1">
                <a:solidFill>
                  <a:srgbClr val="D98930"/>
                </a:solidFill>
                <a:latin typeface="Segoe UI"/>
              </a:defRPr>
            </a:pPr>
            <a:r>
              <a:t>Цель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44368"/>
            <a:ext cx="3154680" cy="1691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3000"/>
              </a:lnSpc>
              <a:defRPr sz="1700" b="1">
                <a:solidFill>
                  <a:srgbClr val="FFFFFF"/>
                </a:solidFill>
                <a:latin typeface="Segoe UI"/>
              </a:defRPr>
            </a:pPr>
            <a:r>
              <a:t>Разработать web-платформу, которая объединяет создание курсов, назначение обучения, фиксацию прогресса, коммуникацию, сертификаты и отчеты в одном защищенном контуре.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048256"/>
            <a:ext cx="601675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93792" y="2185416"/>
            <a:ext cx="29260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150" b="1">
                <a:solidFill>
                  <a:srgbClr val="0F7A65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167128"/>
            <a:ext cx="5074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230" b="1">
                <a:solidFill>
                  <a:srgbClr val="10211B"/>
                </a:solidFill>
                <a:latin typeface="Segoe UI"/>
              </a:defRPr>
            </a:pPr>
            <a:r>
              <a:t>Исследовать процесс обучения и ограничения текущего состояния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724912"/>
            <a:ext cx="601675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93792" y="2862072"/>
            <a:ext cx="29260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150" b="1">
                <a:solidFill>
                  <a:srgbClr val="0F7A65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843784"/>
            <a:ext cx="5074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230" b="1">
                <a:solidFill>
                  <a:srgbClr val="10211B"/>
                </a:solidFill>
                <a:latin typeface="Segoe UI"/>
              </a:defRPr>
            </a:pPr>
            <a:r>
              <a:t>Определить роли, права доступа и требования к данным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3401568"/>
            <a:ext cx="601675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93792" y="3538728"/>
            <a:ext cx="29260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150" b="1">
                <a:solidFill>
                  <a:srgbClr val="0F7A65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520440"/>
            <a:ext cx="5074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230" b="1">
                <a:solidFill>
                  <a:srgbClr val="10211B"/>
                </a:solidFill>
                <a:latin typeface="Segoe UI"/>
              </a:defRPr>
            </a:pPr>
            <a:r>
              <a:t>Спроектировать архитектуру клиента, API и базы данных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4078224"/>
            <a:ext cx="601675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93792" y="4215384"/>
            <a:ext cx="29260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150" b="1">
                <a:solidFill>
                  <a:srgbClr val="0F7A65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197096"/>
            <a:ext cx="5074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230" b="1">
                <a:solidFill>
                  <a:srgbClr val="10211B"/>
                </a:solidFill>
                <a:latin typeface="Segoe UI"/>
              </a:defRPr>
            </a:pPr>
            <a:r>
              <a:t>Реализовать курсы, прогресс, чат, отчеты и сертификаты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4754880"/>
            <a:ext cx="601675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93792" y="4892040"/>
            <a:ext cx="29260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150" b="1">
                <a:solidFill>
                  <a:srgbClr val="0F7A65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873752"/>
            <a:ext cx="5074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230" b="1">
                <a:solidFill>
                  <a:srgbClr val="10211B"/>
                </a:solidFill>
                <a:latin typeface="Segoe UI"/>
              </a:defRPr>
            </a:pPr>
            <a:r>
              <a:t>Подготовить систему к локальному запуску и дальнейшему развитию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Платформа корпоративного обучения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2743" y="6510528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050" b="1">
                <a:solidFill>
                  <a:srgbClr val="0F7A65"/>
                </a:solidFill>
                <a:latin typeface="Segoe UI"/>
              </a:defRPr>
            </a:pPr>
            <a:r>
              <a:t>КОНЦЕПЦИЯ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832104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3100" b="1">
                <a:solidFill>
                  <a:srgbClr val="10211B"/>
                </a:solidFill>
                <a:latin typeface="Segoe UI"/>
              </a:defRPr>
            </a:pPr>
            <a:r>
              <a:t>Пользователи и права доступа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8503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5D6F68"/>
                </a:solidFill>
                <a:latin typeface="Segoe UI"/>
              </a:defRPr>
            </a:pPr>
            <a:r>
              <a:t>Платформа построена вокруг компании-арендатора и ролевой модели RBAC.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029968"/>
            <a:ext cx="2880360" cy="1417320"/>
          </a:xfrm>
          <a:prstGeom prst="roundRect">
            <a:avLst/>
          </a:prstGeom>
          <a:solidFill>
            <a:srgbClr val="0E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2359152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2100" b="1">
                <a:solidFill>
                  <a:srgbClr val="FFFFFF"/>
                </a:solidFill>
                <a:latin typeface="Segoe UI"/>
              </a:defRPr>
            </a:pPr>
            <a:r>
              <a:t>Компания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816352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050" b="0">
                <a:solidFill>
                  <a:srgbClr val="FFE8C2"/>
                </a:solidFill>
                <a:latin typeface="Segoe UI"/>
              </a:defRPr>
            </a:pPr>
            <a:r>
              <a:t>companyId изолирует пользователей,</a:t>
            </a:r>
            <a:br/>
            <a:r>
              <a:t>курсы, роли, чаты и отчеты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6596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965960"/>
            <a:ext cx="73152" cy="1234440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139696"/>
            <a:ext cx="2286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Администратор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69464"/>
            <a:ext cx="2286000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компания, пользователи, роли,</a:t>
            </a:r>
            <a:br/>
            <a:r>
              <a:t>настройки, отчеты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77639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977639"/>
            <a:ext cx="73152" cy="1234440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151375"/>
            <a:ext cx="2286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81143"/>
            <a:ext cx="2286000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сотрудники, отделы,</a:t>
            </a:r>
            <a:br/>
            <a:r>
              <a:t>назначения, прогресс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96596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75320" y="1965960"/>
            <a:ext cx="73152" cy="1234440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2139696"/>
            <a:ext cx="2286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Менеджер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569464"/>
            <a:ext cx="2286000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курсы команды,</a:t>
            </a:r>
            <a:br/>
            <a:r>
              <a:t>чат, контроль сроков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977639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75320" y="3977639"/>
            <a:ext cx="73152" cy="1234440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4151375"/>
            <a:ext cx="2286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Сотрудник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581143"/>
            <a:ext cx="2286000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личные курсы,</a:t>
            </a:r>
            <a:br/>
            <a:r>
              <a:t>вопросы, сертификаты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3520440" y="2578608"/>
            <a:ext cx="1005840" cy="146304"/>
          </a:xfrm>
          <a:prstGeom prst="line">
            <a:avLst/>
          </a:prstGeom>
          <a:ln w="17780">
            <a:solidFill>
              <a:srgbClr val="D5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520440" y="3063240"/>
            <a:ext cx="1005840" cy="1527048"/>
          </a:xfrm>
          <a:prstGeom prst="line">
            <a:avLst/>
          </a:prstGeom>
          <a:ln w="17780">
            <a:solidFill>
              <a:srgbClr val="D5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406640" y="2578608"/>
            <a:ext cx="868680" cy="146304"/>
          </a:xfrm>
          <a:prstGeom prst="line">
            <a:avLst/>
          </a:prstGeom>
          <a:ln w="17780">
            <a:solidFill>
              <a:srgbClr val="D5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06640" y="3063240"/>
            <a:ext cx="868680" cy="1527048"/>
          </a:xfrm>
          <a:prstGeom prst="line">
            <a:avLst/>
          </a:prstGeom>
          <a:ln w="17780">
            <a:solidFill>
              <a:srgbClr val="D5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703320" y="4370832"/>
            <a:ext cx="452628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77639" y="4608576"/>
            <a:ext cx="3977639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120" b="1">
                <a:solidFill>
                  <a:srgbClr val="10211B"/>
                </a:solidFill>
                <a:latin typeface="Segoe UI"/>
              </a:defRPr>
            </a:pPr>
            <a:r>
              <a:t>RBAC: права хранятся в JSON-представлении и проверяются на сервере и клиенте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Платформа корпоративного обучения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2743" y="6510528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050" b="1">
                <a:solidFill>
                  <a:srgbClr val="0F7A65"/>
                </a:solidFill>
                <a:latin typeface="Segoe UI"/>
              </a:defRPr>
            </a:pPr>
            <a:r>
              <a:t>ФУНКЦИОНАЛЬНОСТЬ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832104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3100" b="1">
                <a:solidFill>
                  <a:srgbClr val="10211B"/>
                </a:solidFill>
                <a:latin typeface="Segoe UI"/>
              </a:defRPr>
            </a:pPr>
            <a:r>
              <a:t>Что реализовано в системе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8503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5D6F68"/>
                </a:solidFill>
                <a:latin typeface="Segoe UI"/>
              </a:defRPr>
            </a:pPr>
            <a:r>
              <a:t>MVP закрывает основной цикл корпоративного обучения и сопровождающие административные процессы.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2011680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2011680"/>
            <a:ext cx="73152" cy="1143000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185416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Регистрация компании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15184"/>
            <a:ext cx="2029968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создание арендатора, базовых ролей и первого администратора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011680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2011680"/>
            <a:ext cx="73152" cy="1143000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2185416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Пользователи и отделы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15184"/>
            <a:ext cx="2029968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профили, статусы, роли, принадлежность к подразделениям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2011680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81928" y="2011680"/>
            <a:ext cx="73152" cy="1143000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2185416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Курсы и уроки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615184"/>
            <a:ext cx="2029968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модули, материалы, видео, файлы, тесты и статусы курсов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2011680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34856" y="2011680"/>
            <a:ext cx="73152" cy="1143000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63456" y="2185416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Назначения и прогресс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615184"/>
            <a:ext cx="2029968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дедлайны, завершение уроков, проценты прохождения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" y="3584448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6072" y="3584448"/>
            <a:ext cx="73152" cy="1143000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3758184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Чат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187952"/>
            <a:ext cx="2029968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диалоги сотрудников и руководителей, вложения, realtime-события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3584448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29000" y="3584448"/>
            <a:ext cx="73152" cy="1143000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0" y="3758184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Сертификаты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187952"/>
            <a:ext cx="2029968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HTML/PDF, код проверки, подпись руководителя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1928" y="3584448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81928" y="3584448"/>
            <a:ext cx="73152" cy="1143000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3758184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Дашборд и отчеты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187952"/>
            <a:ext cx="2029968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сводка по обучению, CSV/JSON/PDF-выгрузки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34856" y="3584448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34856" y="3584448"/>
            <a:ext cx="73152" cy="1143000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63456" y="3758184"/>
            <a:ext cx="2029968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Аудит и задачи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3456" y="4187952"/>
            <a:ext cx="2029968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журнал действий, фоновые операции, файловое хранилище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413248"/>
            <a:ext cx="10863072" cy="530352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5586984"/>
            <a:ext cx="10332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150" b="1">
                <a:solidFill>
                  <a:srgbClr val="10211B"/>
                </a:solidFill>
                <a:latin typeface="Segoe UI"/>
              </a:defRPr>
            </a:pPr>
            <a:r>
              <a:t>Сценарий: создать компанию → настроить роли → добавить сотрудников → создать курс → назначить обучение → пройти уроки → получить отчет и сертификат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Платформа корпоративного обучения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2743" y="6510528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050" b="1">
                <a:solidFill>
                  <a:srgbClr val="0F7A65"/>
                </a:solidFill>
                <a:latin typeface="Segoe UI"/>
              </a:defRPr>
            </a:pPr>
            <a:r>
              <a:t>АРХИТЕКТУРА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832104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3100" b="1">
                <a:solidFill>
                  <a:srgbClr val="10211B"/>
                </a:solidFill>
                <a:latin typeface="Segoe UI"/>
              </a:defRPr>
            </a:pPr>
            <a:r>
              <a:t>Клиент-серверная реализация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8503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5D6F68"/>
                </a:solidFill>
                <a:latin typeface="Segoe UI"/>
              </a:defRPr>
            </a:pPr>
            <a:r>
              <a:t>Решение разделено на React-клиент, Express API, сервисный слой и Prisma-модель данных.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22128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2212848" cy="155448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468880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600" b="1">
                <a:solidFill>
                  <a:srgbClr val="10211B"/>
                </a:solidFill>
                <a:latin typeface="Segoe UI"/>
              </a:defRPr>
            </a:pPr>
            <a:r>
              <a:t>Клиент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80360"/>
            <a:ext cx="1874519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980" b="0">
                <a:solidFill>
                  <a:srgbClr val="5D6F68"/>
                </a:solidFill>
                <a:latin typeface="Segoe UI"/>
              </a:defRPr>
            </a:pPr>
            <a:r>
              <a:t>React + Vite + Tailwind</a:t>
            </a:r>
            <a:br/>
            <a:r>
              <a:t>маршрутизация, формы, защищенные экраны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148840"/>
            <a:ext cx="22128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03320" y="2148840"/>
            <a:ext cx="2212848" cy="155448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7911" y="2468880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600" b="1">
                <a:solidFill>
                  <a:srgbClr val="10211B"/>
                </a:solidFill>
                <a:latin typeface="Segoe UI"/>
              </a:defRPr>
            </a:pPr>
            <a: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1" y="2880360"/>
            <a:ext cx="1874519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980" b="0">
                <a:solidFill>
                  <a:srgbClr val="5D6F68"/>
                </a:solidFill>
                <a:latin typeface="Segoe UI"/>
              </a:defRPr>
            </a:pPr>
            <a:r>
              <a:t>Node.js + Express</a:t>
            </a:r>
            <a:br/>
            <a:r>
              <a:t>routes → middleware → controllers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148840"/>
            <a:ext cx="22128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2148840"/>
            <a:ext cx="2212848" cy="155448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3992" y="2468880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600" b="1">
                <a:solidFill>
                  <a:srgbClr val="10211B"/>
                </a:solidFill>
                <a:latin typeface="Segoe UI"/>
              </a:defRPr>
            </a:pPr>
            <a:r>
              <a:t>Бизнес-логика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2880360"/>
            <a:ext cx="1874519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980" b="0">
                <a:solidFill>
                  <a:srgbClr val="5D6F68"/>
                </a:solidFill>
                <a:latin typeface="Segoe UI"/>
              </a:defRPr>
            </a:pPr>
            <a:r>
              <a:t>services</a:t>
            </a:r>
            <a:br/>
            <a:r>
              <a:t>пользователи, курсы, чат, отчеты, сертификаты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2148840"/>
            <a:ext cx="22128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555480" y="2148840"/>
            <a:ext cx="2212848" cy="155448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20072" y="2468880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600" b="1">
                <a:solidFill>
                  <a:srgbClr val="10211B"/>
                </a:solidFill>
                <a:latin typeface="Segoe UI"/>
              </a:defRPr>
            </a:pPr>
            <a:r>
              <a:t>Данные и файлы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72" y="2880360"/>
            <a:ext cx="1874519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980" b="0">
                <a:solidFill>
                  <a:srgbClr val="5D6F68"/>
                </a:solidFill>
                <a:latin typeface="Segoe UI"/>
              </a:defRPr>
            </a:pPr>
            <a:r>
              <a:t>Prisma + SQLite + uploads</a:t>
            </a:r>
            <a:br/>
            <a:r>
              <a:t>модель, сертификаты, материалы, вложения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99232" y="2798064"/>
            <a:ext cx="502920" cy="0"/>
          </a:xfrm>
          <a:prstGeom prst="line">
            <a:avLst/>
          </a:prstGeom>
          <a:ln w="22860">
            <a:solidFill>
              <a:srgbClr val="0F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25312" y="2798064"/>
            <a:ext cx="502920" cy="0"/>
          </a:xfrm>
          <a:prstGeom prst="line">
            <a:avLst/>
          </a:prstGeom>
          <a:ln w="22860">
            <a:solidFill>
              <a:srgbClr val="0F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51392" y="2798064"/>
            <a:ext cx="502920" cy="0"/>
          </a:xfrm>
          <a:prstGeom prst="line">
            <a:avLst/>
          </a:prstGeom>
          <a:ln w="22860">
            <a:solidFill>
              <a:srgbClr val="0F7A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5840" y="4434840"/>
            <a:ext cx="4892040" cy="804672"/>
          </a:xfrm>
          <a:prstGeom prst="roundRect">
            <a:avLst/>
          </a:prstGeom>
          <a:solidFill>
            <a:srgbClr val="0E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25880" y="4645152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300" b="1">
                <a:solidFill>
                  <a:srgbClr val="D98930"/>
                </a:solidFill>
                <a:latin typeface="Segoe UI"/>
              </a:defRPr>
            </a:pPr>
            <a:r>
              <a:t>MVC в проекте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64515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019" b="0">
                <a:solidFill>
                  <a:srgbClr val="FFFFFF"/>
                </a:solidFill>
                <a:latin typeface="Segoe UI"/>
              </a:defRPr>
            </a:pPr>
            <a:r>
              <a:t>View: React-страницы • Controller: Express routes/controllers • Model: Prisma + services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434840"/>
            <a:ext cx="45720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611112" y="4663440"/>
            <a:ext cx="914400" cy="320040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11696" y="4732020"/>
            <a:ext cx="713232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850" b="1">
                <a:solidFill>
                  <a:srgbClr val="0F7A65"/>
                </a:solidFill>
                <a:latin typeface="Segoe UI"/>
              </a:defRPr>
            </a:pPr>
            <a:r>
              <a:t>JWT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07808" y="4663440"/>
            <a:ext cx="1234439" cy="320040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08392" y="4732020"/>
            <a:ext cx="1033271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850" b="1">
                <a:solidFill>
                  <a:srgbClr val="0F7A65"/>
                </a:solidFill>
                <a:latin typeface="Segoe UI"/>
              </a:defRPr>
            </a:pPr>
            <a:r>
              <a:t>bcrypt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24543" y="4663440"/>
            <a:ext cx="914400" cy="320040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25127" y="4732020"/>
            <a:ext cx="713232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850" b="1">
                <a:solidFill>
                  <a:srgbClr val="0F7A65"/>
                </a:solidFill>
                <a:latin typeface="Segoe UI"/>
              </a:defRPr>
            </a:pPr>
            <a:r>
              <a:t>Zod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1239" y="4663440"/>
            <a:ext cx="1234439" cy="320040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21823" y="4732020"/>
            <a:ext cx="1033271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850" b="1">
                <a:solidFill>
                  <a:srgbClr val="0F7A65"/>
                </a:solidFill>
                <a:latin typeface="Segoe UI"/>
              </a:defRPr>
            </a:pPr>
            <a:r>
              <a:t>Multer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237974" y="4663440"/>
            <a:ext cx="1234439" cy="320040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338558" y="4732020"/>
            <a:ext cx="1033271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850" b="1">
                <a:solidFill>
                  <a:srgbClr val="0F7A65"/>
                </a:solidFill>
                <a:latin typeface="Segoe UI"/>
              </a:defRPr>
            </a:pPr>
            <a:r>
              <a:t>PDFKit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54709" y="4663440"/>
            <a:ext cx="1645919" cy="320040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655293" y="4732020"/>
            <a:ext cx="1444751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850" b="1">
                <a:solidFill>
                  <a:srgbClr val="0F7A65"/>
                </a:solidFill>
                <a:latin typeface="Segoe UI"/>
              </a:defRPr>
            </a:pPr>
            <a:r>
              <a:t>Socket.IO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Платформа корпоративного обучения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2743" y="6510528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050" b="1">
                <a:solidFill>
                  <a:srgbClr val="0F7A65"/>
                </a:solidFill>
                <a:latin typeface="Segoe UI"/>
              </a:defRPr>
            </a:pPr>
            <a:r>
              <a:t>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832104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3100" b="1">
                <a:solidFill>
                  <a:srgbClr val="10211B"/>
                </a:solidFill>
                <a:latin typeface="Segoe UI"/>
              </a:defRPr>
            </a:pPr>
            <a:r>
              <a:t>Модель предметной области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8503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5D6F68"/>
                </a:solidFill>
                <a:latin typeface="Segoe UI"/>
              </a:defRPr>
            </a:pPr>
            <a:r>
              <a:t>Все ключевые сущности связаны с компанией и не смешиваются между арендаторами.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8032" y="1874519"/>
            <a:ext cx="2514600" cy="777240"/>
          </a:xfrm>
          <a:prstGeom prst="roundRect">
            <a:avLst/>
          </a:prstGeom>
          <a:solidFill>
            <a:srgbClr val="0E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66360" y="2121408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Company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88920"/>
            <a:ext cx="19659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2953512"/>
            <a:ext cx="167335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240" b="1">
                <a:solidFill>
                  <a:srgbClr val="0F7A65"/>
                </a:solidFill>
                <a:latin typeface="Segoe UI"/>
              </a:defRPr>
            </a:pPr>
            <a:r>
              <a:t>Оргструктура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246120"/>
            <a:ext cx="167335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10211B"/>
                </a:solidFill>
                <a:latin typeface="Segoe UI"/>
              </a:defRPr>
            </a:pPr>
            <a:r>
              <a:t>Users</a:t>
            </a:r>
            <a:br/>
            <a:r>
              <a:t>Roles</a:t>
            </a:r>
            <a:br/>
            <a:r>
              <a:t>Departments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810512" y="2651760"/>
            <a:ext cx="4270248" cy="137160"/>
          </a:xfrm>
          <a:prstGeom prst="line">
            <a:avLst/>
          </a:prstGeom>
          <a:ln w="17780">
            <a:solidFill>
              <a:srgbClr val="D5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08960" y="3977639"/>
            <a:ext cx="19659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55264" y="4142231"/>
            <a:ext cx="167335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240" b="1">
                <a:solidFill>
                  <a:srgbClr val="D98930"/>
                </a:solidFill>
                <a:latin typeface="Segoe UI"/>
              </a:defRPr>
            </a:pPr>
            <a:r>
              <a:t>Обучение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5264" y="4434840"/>
            <a:ext cx="167335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10211B"/>
                </a:solidFill>
                <a:latin typeface="Segoe UI"/>
              </a:defRPr>
            </a:pPr>
            <a:r>
              <a:t>Courses</a:t>
            </a:r>
            <a:br/>
            <a:r>
              <a:t>Modules</a:t>
            </a:r>
            <a:br/>
            <a:r>
              <a:t>Lessons</a:t>
            </a:r>
            <a:br/>
            <a:r>
              <a:t>Quizzes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096512" y="2651760"/>
            <a:ext cx="1984248" cy="1325879"/>
          </a:xfrm>
          <a:prstGeom prst="line">
            <a:avLst/>
          </a:prstGeom>
          <a:ln w="17780">
            <a:solidFill>
              <a:srgbClr val="D5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577840" y="3977639"/>
            <a:ext cx="19659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24144" y="4142231"/>
            <a:ext cx="167335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240" b="1">
                <a:solidFill>
                  <a:srgbClr val="0F7A65"/>
                </a:solidFill>
                <a:latin typeface="Segoe UI"/>
              </a:defRPr>
            </a:pPr>
            <a:r>
              <a:t>Исполнение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24144" y="4434840"/>
            <a:ext cx="167335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10211B"/>
                </a:solidFill>
                <a:latin typeface="Segoe UI"/>
              </a:defRPr>
            </a:pPr>
            <a:r>
              <a:t>Assignments</a:t>
            </a:r>
            <a:br/>
            <a:r>
              <a:t>Progress</a:t>
            </a:r>
            <a:br/>
            <a:r>
              <a:t>Certificates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2651760"/>
            <a:ext cx="484632" cy="1325879"/>
          </a:xfrm>
          <a:prstGeom prst="line">
            <a:avLst/>
          </a:prstGeom>
          <a:ln w="17780">
            <a:solidFill>
              <a:srgbClr val="D5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92440" y="3977639"/>
            <a:ext cx="19659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38744" y="4142231"/>
            <a:ext cx="167335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240" b="1">
                <a:solidFill>
                  <a:srgbClr val="D98930"/>
                </a:solidFill>
                <a:latin typeface="Segoe UI"/>
              </a:defRPr>
            </a:pPr>
            <a:r>
              <a:t>Коммуникации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4434840"/>
            <a:ext cx="167335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10211B"/>
                </a:solidFill>
                <a:latin typeface="Segoe UI"/>
              </a:defRPr>
            </a:pPr>
            <a:r>
              <a:t>ChatThreads</a:t>
            </a:r>
            <a:br/>
            <a:r>
              <a:t>Participants</a:t>
            </a:r>
            <a:br/>
            <a:r>
              <a:t>Messages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2651760"/>
            <a:ext cx="2999232" cy="1325879"/>
          </a:xfrm>
          <a:prstGeom prst="line">
            <a:avLst/>
          </a:prstGeom>
          <a:ln w="17780">
            <a:solidFill>
              <a:srgbClr val="D5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64040" y="2788920"/>
            <a:ext cx="196596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10344" y="2953512"/>
            <a:ext cx="167335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240" b="1">
                <a:solidFill>
                  <a:srgbClr val="0F7A65"/>
                </a:solidFill>
                <a:latin typeface="Segoe UI"/>
              </a:defRPr>
            </a:pPr>
            <a:r>
              <a:t>Сопровождение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0344" y="3246120"/>
            <a:ext cx="167335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0000"/>
              </a:lnSpc>
              <a:defRPr sz="1050" b="0">
                <a:solidFill>
                  <a:srgbClr val="10211B"/>
                </a:solidFill>
                <a:latin typeface="Segoe UI"/>
              </a:defRPr>
            </a:pPr>
            <a:r>
              <a:t>AuditLogs</a:t>
            </a:r>
            <a:br/>
            <a:r>
              <a:t>BackgroundJobs</a:t>
            </a:r>
            <a:br/>
            <a:r>
              <a:t>Uploads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2651760"/>
            <a:ext cx="4370832" cy="137160"/>
          </a:xfrm>
          <a:prstGeom prst="line">
            <a:avLst/>
          </a:prstGeom>
          <a:ln w="17780">
            <a:solidFill>
              <a:srgbClr val="D5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" y="5413248"/>
            <a:ext cx="10561320" cy="475488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5559552"/>
            <a:ext cx="10058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110" b="1">
                <a:solidFill>
                  <a:srgbClr val="10211B"/>
                </a:solidFill>
                <a:latin typeface="Segoe UI"/>
              </a:defRPr>
            </a:pPr>
            <a:r>
              <a:t>Уникальные ограничения и индексы учитывают companyId: email, роли, отделы, курсы, отчеты и права доступны только внутри своей компании.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Платформа корпоративного обучения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2743" y="6510528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050" b="1">
                <a:solidFill>
                  <a:srgbClr val="0F7A65"/>
                </a:solidFill>
                <a:latin typeface="Segoe UI"/>
              </a:defRPr>
            </a:pPr>
            <a:r>
              <a:t>ИНТЕРФЕЙС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832104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3100" b="1">
                <a:solidFill>
                  <a:srgbClr val="10211B"/>
                </a:solidFill>
                <a:latin typeface="Segoe UI"/>
              </a:defRPr>
            </a:pPr>
            <a:r>
              <a:t>Рабочее пространство пользователя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8503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5D6F68"/>
                </a:solidFill>
                <a:latin typeface="Segoe UI"/>
              </a:defRPr>
            </a:pPr>
            <a:r>
              <a:t>Дашборд объединяет обучение, коммуникации и быстрые действия.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02536"/>
            <a:ext cx="6592824" cy="373075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29968"/>
            <a:ext cx="6537960" cy="367588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205740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5240" y="2057400"/>
            <a:ext cx="73152" cy="914400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231136"/>
            <a:ext cx="310896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Сводка обучения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60904"/>
            <a:ext cx="3108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назначенные, активные и завершенные курсы видны на первом экране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24612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3246120"/>
            <a:ext cx="73152" cy="914400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419856"/>
            <a:ext cx="310896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Коммуникации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849624"/>
            <a:ext cx="3108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чат и новые обращения обновляют состояние интерфейса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434840"/>
            <a:ext cx="3566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4434840"/>
            <a:ext cx="73152" cy="914400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4608576"/>
            <a:ext cx="310896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1">
                <a:solidFill>
                  <a:srgbClr val="10211B"/>
                </a:solidFill>
                <a:latin typeface="Segoe UI"/>
              </a:defRPr>
            </a:pPr>
            <a:r>
              <a:t>Результаты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038344"/>
            <a:ext cx="3108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5D6F68"/>
                </a:solidFill>
                <a:latin typeface="Segoe UI"/>
              </a:defRPr>
            </a:pPr>
            <a:r>
              <a:t>сертификаты, отчеты и действия доступны из единого кабинета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Платформа корпоративного обучения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2743" y="6510528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050" b="1">
                <a:solidFill>
                  <a:srgbClr val="0F7A65"/>
                </a:solidFill>
                <a:latin typeface="Segoe UI"/>
              </a:defRPr>
            </a:pPr>
            <a:r>
              <a:t>АДМИНИСТРИРОВАНИЕ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832104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3100" b="1">
                <a:solidFill>
                  <a:srgbClr val="10211B"/>
                </a:solidFill>
                <a:latin typeface="Segoe UI"/>
              </a:defRPr>
            </a:pPr>
            <a:r>
              <a:t>Управление сотрудниками, ролями и курсами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8503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5D6F68"/>
                </a:solidFill>
                <a:latin typeface="Segoe UI"/>
              </a:defRPr>
            </a:pPr>
            <a:r>
              <a:t>Администратор и HR могут поддерживать организационную структуру и учебные программы без обращения к базе данных.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1938528"/>
            <a:ext cx="4809744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use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965960"/>
            <a:ext cx="4754880" cy="2971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96712" y="1938528"/>
            <a:ext cx="5340096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ours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1965960"/>
            <a:ext cx="5285232" cy="2971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8680" y="5175504"/>
            <a:ext cx="998524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5349240"/>
            <a:ext cx="9555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130" b="1">
                <a:solidFill>
                  <a:srgbClr val="10211B"/>
                </a:solidFill>
                <a:latin typeface="Segoe UI"/>
              </a:defRPr>
            </a:pPr>
            <a:r>
              <a:t>Карточка сотрудника связывает профиль, роль, отдел, статус доступа, назначенное обучение и историю завершенных курсов.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Платформа корпоративного обучения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2743" y="6510528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050" b="1">
                <a:solidFill>
                  <a:srgbClr val="0F7A65"/>
                </a:solidFill>
                <a:latin typeface="Segoe UI"/>
              </a:defRPr>
            </a:pPr>
            <a:r>
              <a:t>ПОЛЬЗОВАТЕЛЬСКИЙ ЦИКЛ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832104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3100" b="1">
                <a:solidFill>
                  <a:srgbClr val="10211B"/>
                </a:solidFill>
                <a:latin typeface="Segoe UI"/>
              </a:defRPr>
            </a:pPr>
            <a:r>
              <a:t>Обучение, чат и сертификаты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8503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5D6F68"/>
                </a:solidFill>
                <a:latin typeface="Segoe UI"/>
              </a:defRPr>
            </a:pPr>
            <a:r>
              <a:t>Система ведет сотрудника от назначения курса до подтверждения результата.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938528"/>
            <a:ext cx="3456432" cy="21854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ur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3401568" cy="21305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89120" y="1938528"/>
            <a:ext cx="3456432" cy="21854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a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965960"/>
            <a:ext cx="3401568" cy="21305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47304" y="1938528"/>
            <a:ext cx="3456432" cy="21854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ertificat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965960"/>
            <a:ext cx="3401568" cy="2130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407408"/>
            <a:ext cx="3154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450" b="1">
                <a:solidFill>
                  <a:srgbClr val="10211B"/>
                </a:solidFill>
                <a:latin typeface="Segoe UI"/>
              </a:defRPr>
            </a:pPr>
            <a:r>
              <a:t>1. Прохождение курса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36592"/>
            <a:ext cx="31546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050" b="0">
                <a:solidFill>
                  <a:srgbClr val="5D6F68"/>
                </a:solidFill>
                <a:latin typeface="Segoe UI"/>
              </a:defRPr>
            </a:pPr>
            <a:r>
              <a:t>модули, уроки, файлы и отметка прогресса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4407408"/>
            <a:ext cx="3154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450" b="1">
                <a:solidFill>
                  <a:srgbClr val="10211B"/>
                </a:solidFill>
                <a:latin typeface="Segoe UI"/>
              </a:defRPr>
            </a:pPr>
            <a:r>
              <a:t>2. Вопросы в чате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4736592"/>
            <a:ext cx="31546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050" b="0">
                <a:solidFill>
                  <a:srgbClr val="5D6F68"/>
                </a:solidFill>
                <a:latin typeface="Segoe UI"/>
              </a:defRPr>
            </a:pPr>
            <a:r>
              <a:t>диалоги с руководителем и realtime-обновления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4407408"/>
            <a:ext cx="3154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450" b="1">
                <a:solidFill>
                  <a:srgbClr val="10211B"/>
                </a:solidFill>
                <a:latin typeface="Segoe UI"/>
              </a:defRPr>
            </a:pPr>
            <a:r>
              <a:t>3. Сертификат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4736592"/>
            <a:ext cx="31546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8000"/>
              </a:lnSpc>
              <a:defRPr sz="1050" b="0">
                <a:solidFill>
                  <a:srgbClr val="5D6F68"/>
                </a:solidFill>
                <a:latin typeface="Segoe UI"/>
              </a:defRPr>
            </a:pPr>
            <a:r>
              <a:t>PDF, код проверки и подпись руководителя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Платформа корпоративного обучения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2743" y="6510528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9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050" b="1">
                <a:solidFill>
                  <a:srgbClr val="0F7A65"/>
                </a:solidFill>
                <a:latin typeface="Segoe UI"/>
              </a:defRPr>
            </a:pPr>
            <a:r>
              <a:t>РЕЗУЛЬТАТ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8321040" cy="7498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3100" b="1">
                <a:solidFill>
                  <a:srgbClr val="10211B"/>
                </a:solidFill>
                <a:latin typeface="Segoe UI"/>
              </a:defRPr>
            </a:pPr>
            <a:r>
              <a:t>Что получено и как развивать дальше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8503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1500" b="0">
                <a:solidFill>
                  <a:srgbClr val="5D6F68"/>
                </a:solidFill>
                <a:latin typeface="Segoe UI"/>
              </a:defRPr>
            </a:pPr>
            <a:r>
              <a:t>Реализована работоспособная версия LMS, пригодная для локального запуска и поэтапного расширения.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65960"/>
            <a:ext cx="48920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258568"/>
            <a:ext cx="42519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2000" b="1">
                <a:solidFill>
                  <a:srgbClr val="10211B"/>
                </a:solidFill>
                <a:latin typeface="Segoe UI"/>
              </a:defRPr>
            </a:pPr>
            <a:r>
              <a:t>Полученный результат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788920"/>
            <a:ext cx="4160520" cy="2194560"/>
          </a:xfrm>
          <a:prstGeom prst="rect">
            <a:avLst/>
          </a:prstGeom>
          <a:noFill/>
        </p:spPr>
        <p:txBody>
          <a:bodyPr wrap="square" lIns="54864" tIns="18288" rIns="36576" bIns="18288">
            <a:spAutoFit/>
          </a:bodyPr>
          <a:lstStyle/>
          <a:p>
            <a:pPr marL="342900">
              <a:lnSpc>
                <a:spcPct val="108000"/>
              </a:lnSpc>
              <a:spcAft>
                <a:spcPts val="500"/>
              </a:spcAft>
              <a:defRPr sz="1240">
                <a:solidFill>
                  <a:srgbClr val="10211B"/>
                </a:solidFill>
                <a:latin typeface="Segoe UI"/>
              </a:defRPr>
            </a:pPr>
            <a:r>
              <a:t>многоарендная модель с изоляцией данных компаний</a:t>
            </a:r>
          </a:p>
          <a:p>
            <a:pPr marL="342900">
              <a:lnSpc>
                <a:spcPct val="108000"/>
              </a:lnSpc>
              <a:spcAft>
                <a:spcPts val="500"/>
              </a:spcAft>
              <a:defRPr sz="1240">
                <a:solidFill>
                  <a:srgbClr val="10211B"/>
                </a:solidFill>
                <a:latin typeface="Segoe UI"/>
              </a:defRPr>
            </a:pPr>
            <a:r>
              <a:t>RBAC, JWT-аутентификация и серверные проверки доступа</a:t>
            </a:r>
          </a:p>
          <a:p>
            <a:pPr marL="342900">
              <a:lnSpc>
                <a:spcPct val="108000"/>
              </a:lnSpc>
              <a:spcAft>
                <a:spcPts val="500"/>
              </a:spcAft>
              <a:defRPr sz="1240">
                <a:solidFill>
                  <a:srgbClr val="10211B"/>
                </a:solidFill>
                <a:latin typeface="Segoe UI"/>
              </a:defRPr>
            </a:pPr>
            <a:r>
              <a:t>управление курсами, уроками, назначениями и прогрессом</a:t>
            </a:r>
          </a:p>
          <a:p>
            <a:pPr marL="342900">
              <a:lnSpc>
                <a:spcPct val="108000"/>
              </a:lnSpc>
              <a:spcAft>
                <a:spcPts val="500"/>
              </a:spcAft>
              <a:defRPr sz="1240">
                <a:solidFill>
                  <a:srgbClr val="10211B"/>
                </a:solidFill>
                <a:latin typeface="Segoe UI"/>
              </a:defRPr>
            </a:pPr>
            <a:r>
              <a:t>чат, отчеты, аудит и PDF-сертификаты</a:t>
            </a:r>
          </a:p>
          <a:p>
            <a:pPr marL="342900">
              <a:lnSpc>
                <a:spcPct val="108000"/>
              </a:lnSpc>
              <a:spcAft>
                <a:spcPts val="500"/>
              </a:spcAft>
              <a:defRPr sz="1240">
                <a:solidFill>
                  <a:srgbClr val="10211B"/>
                </a:solidFill>
                <a:latin typeface="Segoe UI"/>
              </a:defRPr>
            </a:pPr>
            <a:r>
              <a:t>структура проекта готова к сопровождению и расширению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965960"/>
            <a:ext cx="4892040" cy="3429000"/>
          </a:xfrm>
          <a:prstGeom prst="roundRect">
            <a:avLst/>
          </a:prstGeom>
          <a:solidFill>
            <a:srgbClr val="0E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2258568"/>
            <a:ext cx="42519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2000" b="1">
                <a:solidFill>
                  <a:srgbClr val="FFFFFF"/>
                </a:solidFill>
                <a:latin typeface="Segoe UI"/>
              </a:defRPr>
            </a:pPr>
            <a:r>
              <a:t>Дальнейшее развитие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788920"/>
            <a:ext cx="4069080" cy="2194560"/>
          </a:xfrm>
          <a:prstGeom prst="rect">
            <a:avLst/>
          </a:prstGeom>
          <a:noFill/>
        </p:spPr>
        <p:txBody>
          <a:bodyPr wrap="square" lIns="54864" tIns="18288" rIns="36576" bIns="18288">
            <a:spAutoFit/>
          </a:bodyPr>
          <a:lstStyle/>
          <a:p>
            <a:pPr marL="342900">
              <a:lnSpc>
                <a:spcPct val="108000"/>
              </a:lnSpc>
              <a:spcAft>
                <a:spcPts val="500"/>
              </a:spcAft>
              <a:defRPr sz="1240">
                <a:solidFill>
                  <a:srgbClr val="FFFFFF"/>
                </a:solidFill>
                <a:latin typeface="Segoe UI"/>
              </a:defRPr>
            </a:pPr>
            <a:r>
              <a:t>перенос базы данных на PostgreSQL</a:t>
            </a:r>
          </a:p>
          <a:p>
            <a:pPr marL="342900">
              <a:lnSpc>
                <a:spcPct val="108000"/>
              </a:lnSpc>
              <a:spcAft>
                <a:spcPts val="500"/>
              </a:spcAft>
              <a:defRPr sz="1240">
                <a:solidFill>
                  <a:srgbClr val="FFFFFF"/>
                </a:solidFill>
                <a:latin typeface="Segoe UI"/>
              </a:defRPr>
            </a:pPr>
            <a:r>
              <a:t>замена локальных uploads на S3-совместимое хранилище</a:t>
            </a:r>
          </a:p>
          <a:p>
            <a:pPr marL="342900">
              <a:lnSpc>
                <a:spcPct val="108000"/>
              </a:lnSpc>
              <a:spcAft>
                <a:spcPts val="500"/>
              </a:spcAft>
              <a:defRPr sz="1240">
                <a:solidFill>
                  <a:srgbClr val="FFFFFF"/>
                </a:solidFill>
                <a:latin typeface="Segoe UI"/>
              </a:defRPr>
            </a:pPr>
            <a:r>
              <a:t>расширение фоновых задач и уведомлений</a:t>
            </a:r>
          </a:p>
          <a:p>
            <a:pPr marL="342900">
              <a:lnSpc>
                <a:spcPct val="108000"/>
              </a:lnSpc>
              <a:spcAft>
                <a:spcPts val="500"/>
              </a:spcAft>
              <a:defRPr sz="1240">
                <a:solidFill>
                  <a:srgbClr val="FFFFFF"/>
                </a:solidFill>
                <a:latin typeface="Segoe UI"/>
              </a:defRPr>
            </a:pPr>
            <a:r>
              <a:t>углубленная аналитика по обучению и компетенциям</a:t>
            </a:r>
          </a:p>
          <a:p>
            <a:pPr marL="342900">
              <a:lnSpc>
                <a:spcPct val="108000"/>
              </a:lnSpc>
              <a:spcAft>
                <a:spcPts val="500"/>
              </a:spcAft>
              <a:defRPr sz="1240">
                <a:solidFill>
                  <a:srgbClr val="FFFFFF"/>
                </a:solidFill>
                <a:latin typeface="Segoe UI"/>
              </a:defRPr>
            </a:pPr>
            <a:r>
              <a:t>интеграция с корпоративной почтой или HR-системой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Платформа корпоративного обучения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2743" y="6510528"/>
            <a:ext cx="2743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8000"/>
              </a:lnSpc>
              <a:defRPr sz="850" b="0">
                <a:solidFill>
                  <a:srgbClr val="7A8E88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1330</Words>
  <Application>Microsoft Office PowerPoint</Application>
  <PresentationFormat>Широкоэкранный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Платформа для корпоративного обучения</dc:title>
  <dc:subject>Дипломная презентация</dc:subject>
  <dc:creator>Codex</dc:creator>
  <cp:keywords/>
  <dc:description>generated using python-pptx</dc:description>
  <cp:lastModifiedBy>mitkinalera2003.80@gmail.com</cp:lastModifiedBy>
  <cp:revision>2</cp:revision>
  <dcterms:created xsi:type="dcterms:W3CDTF">2013-01-27T09:14:16Z</dcterms:created>
  <dcterms:modified xsi:type="dcterms:W3CDTF">2026-05-03T22:04:32Z</dcterms:modified>
  <cp:category/>
</cp:coreProperties>
</file>